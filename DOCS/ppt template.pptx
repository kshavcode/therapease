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F0CF"/>
    <a:srgbClr val="32A435"/>
    <a:srgbClr val="4CCAD0"/>
    <a:srgbClr val="B9EFDF"/>
    <a:srgbClr val="217C81"/>
    <a:srgbClr val="C5EEF0"/>
    <a:srgbClr val="5DC780"/>
    <a:srgbClr val="D3F0DD"/>
    <a:srgbClr val="359B57"/>
    <a:srgbClr val="D3E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546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6.png"/><Relationship Id="rId21" Type="http://schemas.openxmlformats.org/officeDocument/2006/relationships/image" Target="../media/image21.png"/><Relationship Id="rId7" Type="http://schemas.openxmlformats.org/officeDocument/2006/relationships/image" Target="../media/image8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3.png"/><Relationship Id="rId15" Type="http://schemas.openxmlformats.org/officeDocument/2006/relationships/image" Target="../media/image15.png"/><Relationship Id="rId10" Type="http://schemas.openxmlformats.org/officeDocument/2006/relationships/hyperlink" Target="https://sih-project-nkxgf57wuihmjygcxsruhf.streamlit.app/" TargetMode="External"/><Relationship Id="rId19" Type="http://schemas.openxmlformats.org/officeDocument/2006/relationships/image" Target="../media/image19.png"/><Relationship Id="rId4" Type="http://schemas.microsoft.com/office/2007/relationships/hdphoto" Target="../media/hdphoto1.wdp"/><Relationship Id="rId9" Type="http://schemas.openxmlformats.org/officeDocument/2006/relationships/image" Target="../media/image10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icar.org.in/en/other-reports" TargetMode="External"/><Relationship Id="rId13" Type="http://schemas.openxmlformats.org/officeDocument/2006/relationships/hyperlink" Target="https://www.thehindu.com/news/national/kerala/high-profit-lures-farmers-to-hightech-precision-agriculture/article2109734.ece?" TargetMode="External"/><Relationship Id="rId3" Type="http://schemas.openxmlformats.org/officeDocument/2006/relationships/hyperlink" Target="https://www.scribd.com/document/708239026/Handbook-of-Agriculture" TargetMode="External"/><Relationship Id="rId7" Type="http://schemas.openxmlformats.org/officeDocument/2006/relationships/hyperlink" Target="https://www.worldbank.org/en/news/feature/2012/05/17/india-agriculture-issues-priorities" TargetMode="External"/><Relationship Id="rId12" Type="http://schemas.openxmlformats.org/officeDocument/2006/relationships/hyperlink" Target="https://livekerala.com/blog/local-innovators-from-kerala-making-waves-in-agritech-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esearchgate.net/publication/377135877_XGBoost_and_Random_Forest_Algorithms_An_in_Depth_Analysis" TargetMode="External"/><Relationship Id="rId11" Type="http://schemas.openxmlformats.org/officeDocument/2006/relationships/hyperlink" Target="https://www.mdpi.com/2071-1050/16/21/9188?" TargetMode="External"/><Relationship Id="rId5" Type="http://schemas.openxmlformats.org/officeDocument/2006/relationships/hyperlink" Target="https://www.researchgate.net/publication/371589787_Smart_Farming_Crop_Recommendation_using_Machine_Learning_with_Challenges_and_Future_Ideas" TargetMode="External"/><Relationship Id="rId15" Type="http://schemas.openxmlformats.org/officeDocument/2006/relationships/image" Target="../media/image31.png"/><Relationship Id="rId10" Type="http://schemas.openxmlformats.org/officeDocument/2006/relationships/hyperlink" Target="https://www.tandfonline.com/doi/full/10.1080/00103624.2025.2537411?mi=jtwdyq" TargetMode="External"/><Relationship Id="rId4" Type="http://schemas.openxmlformats.org/officeDocument/2006/relationships/hyperlink" Target="https://india.mongabay.com/2024/09/ai-and-tech-solutions-aid-jharkhand-farmer-with-irrigation-and-pests/" TargetMode="External"/><Relationship Id="rId9" Type="http://schemas.openxmlformats.org/officeDocument/2006/relationships/hyperlink" Target="https://www.nature.com/articles/s41598-025-07003-8" TargetMode="External"/><Relationship Id="rId1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E-LIBRARY-06\Desktop\Picture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08779" y="989828"/>
            <a:ext cx="4651375" cy="5162550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8239611" y="195453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1954530"/>
            <a:ext cx="7785104" cy="455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SIH25074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AI-Powered Personal Farming Assistant for Kerala Farmers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Agriculture,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FoodTech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&amp; Rural Development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98828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Team Bashers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253552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231900" y="-1451008"/>
            <a:ext cx="8003178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67712"/>
            <a:ext cx="145649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Team Bashers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329773" y="1348983"/>
            <a:ext cx="5337380" cy="2299660"/>
          </a:xfrm>
          <a:prstGeom prst="rect">
            <a:avLst/>
          </a:prstGeom>
          <a:ln w="28575">
            <a:solidFill>
              <a:srgbClr val="4CCAD0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82880" tIns="91440" rIns="182880" bIns="91440" rtlCol="0" anchor="t"/>
          <a:lstStyle/>
          <a:p>
            <a:pPr algn="just"/>
            <a:r>
              <a:rPr lang="en-US" sz="1200" dirty="0">
                <a:latin typeface="+mj-lt"/>
                <a:ea typeface="Adobe Fangsong Std R" panose="02020400000000000000" pitchFamily="18" charset="-128"/>
                <a:cs typeface="Arial" pitchFamily="34" charset="0"/>
              </a:rPr>
              <a:t>The AI-Based Crop Recommendation System is a platform which uses machine-learning to suggest the most appropriate crop for a farmer to plant based on a comprehensive set of real-time and historical data.</a:t>
            </a:r>
          </a:p>
          <a:p>
            <a:pPr algn="just"/>
            <a:endParaRPr lang="en-US" sz="1200" b="1" dirty="0">
              <a:latin typeface="+mj-lt"/>
              <a:cs typeface="Arial" pitchFamily="34" charset="0"/>
            </a:endParaRPr>
          </a:p>
          <a:p>
            <a:pPr algn="just"/>
            <a:r>
              <a:rPr lang="en-US" sz="1400" b="1" dirty="0">
                <a:latin typeface="+mj-lt"/>
              </a:rPr>
              <a:t>What and Why needed?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200" b="1" u="sng" dirty="0">
                <a:latin typeface="+mj-lt"/>
                <a:ea typeface="Adobe Fangsong Std R" panose="02020400000000000000" pitchFamily="18" charset="-128"/>
              </a:rPr>
              <a:t>What</a:t>
            </a:r>
            <a:r>
              <a:rPr lang="en-US" sz="1200" b="1" dirty="0">
                <a:latin typeface="+mj-lt"/>
                <a:ea typeface="Adobe Fangsong Std R" panose="02020400000000000000" pitchFamily="18" charset="-128"/>
              </a:rPr>
              <a:t>:</a:t>
            </a:r>
            <a:r>
              <a:rPr lang="en-US" sz="1200" dirty="0">
                <a:latin typeface="+mj-lt"/>
                <a:ea typeface="Adobe Fangsong Std R" panose="02020400000000000000" pitchFamily="18" charset="-128"/>
              </a:rPr>
              <a:t> A dynamic, data-driven decision support system. It takes input on soil parameters (pH, nitrogen, phosphorus, potassium, moisture), climate data (temperature, humidity, rainfall), and geographical location.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n-US" sz="1200" b="1" u="sng" dirty="0">
                <a:latin typeface="+mj-lt"/>
                <a:ea typeface="Adobe Fangsong Std R" panose="02020400000000000000" pitchFamily="18" charset="-128"/>
              </a:rPr>
              <a:t>Why needed</a:t>
            </a:r>
            <a:r>
              <a:rPr lang="en-US" sz="1200" b="1" dirty="0">
                <a:latin typeface="+mj-lt"/>
                <a:ea typeface="Adobe Fangsong Std R" panose="02020400000000000000" pitchFamily="18" charset="-128"/>
              </a:rPr>
              <a:t>:</a:t>
            </a:r>
            <a:r>
              <a:rPr lang="en-US" sz="1200" dirty="0">
                <a:latin typeface="+mj-lt"/>
                <a:ea typeface="Adobe Fangsong Std R" panose="02020400000000000000" pitchFamily="18" charset="-128"/>
              </a:rPr>
              <a:t> To maximize profitability and sustainability. Our uniqueness lies in combining explainable AI, economics optimization, offline-first design, and robust </a:t>
            </a:r>
            <a:r>
              <a:rPr lang="en-US" sz="1200" dirty="0" err="1">
                <a:latin typeface="+mj-lt"/>
                <a:ea typeface="Adobe Fangsong Std R" panose="02020400000000000000" pitchFamily="18" charset="-128"/>
              </a:rPr>
              <a:t>MLOps</a:t>
            </a:r>
            <a:r>
              <a:rPr lang="en-US" sz="1200" dirty="0">
                <a:latin typeface="+mj-lt"/>
                <a:ea typeface="Adobe Fangsong Std R" panose="02020400000000000000" pitchFamily="18" charset="-128"/>
              </a:rPr>
              <a:t> around a hybrid </a:t>
            </a:r>
            <a:r>
              <a:rPr lang="en-US" sz="1200" dirty="0" err="1">
                <a:latin typeface="+mj-lt"/>
                <a:ea typeface="Adobe Fangsong Std R" panose="02020400000000000000" pitchFamily="18" charset="-128"/>
              </a:rPr>
              <a:t>XGBoost+Fuzzy</a:t>
            </a:r>
            <a:r>
              <a:rPr lang="en-US" sz="1200" dirty="0">
                <a:latin typeface="+mj-lt"/>
                <a:ea typeface="Adobe Fangsong Std R" panose="02020400000000000000" pitchFamily="18" charset="-128"/>
              </a:rPr>
              <a:t> Logic decision engine. </a:t>
            </a:r>
            <a:endParaRPr lang="en-US" sz="1200" dirty="0">
              <a:latin typeface="+mj-l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E528225-DC45-449D-B316-939885597BA3}"/>
              </a:ext>
            </a:extLst>
          </p:cNvPr>
          <p:cNvSpPr/>
          <p:nvPr/>
        </p:nvSpPr>
        <p:spPr>
          <a:xfrm>
            <a:off x="2713522" y="6956063"/>
            <a:ext cx="6576223" cy="1138036"/>
          </a:xfrm>
          <a:prstGeom prst="rect">
            <a:avLst/>
          </a:prstGeom>
          <a:ln w="28575">
            <a:prstDash val="sys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Font typeface="Arial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Detailed explanation of the proposed solution</a:t>
            </a:r>
          </a:p>
          <a:p>
            <a:pPr algn="ctr">
              <a:buFont typeface="Arial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algn="ctr">
              <a:buFont typeface="Arial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What and Why needed?</a:t>
            </a:r>
          </a:p>
          <a:p>
            <a:pPr algn="ctr">
              <a:buFont typeface="Arial" pitchFamily="34" charset="0"/>
              <a:buChar char="•"/>
            </a:pPr>
            <a:r>
              <a:rPr lang="en-US" sz="1600" dirty="0">
                <a:latin typeface="Arial" pitchFamily="34" charset="0"/>
                <a:cs typeface="Arial" pitchFamily="34" charset="0"/>
              </a:rPr>
              <a:t> How will it help?</a:t>
            </a:r>
          </a:p>
          <a:p>
            <a:pPr algn="ctr">
              <a:buFont typeface="Arial" pitchFamily="34" charset="0"/>
              <a:buChar char="•"/>
            </a:pP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4" name="Picture 2">
            <a:extLst>
              <a:ext uri="{FF2B5EF4-FFF2-40B4-BE49-F238E27FC236}">
                <a16:creationId xmlns:a16="http://schemas.microsoft.com/office/drawing/2014/main" id="{93F5F6C2-4E47-4700-909A-0BDE16848C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40" t="8445" r="3649" b="6856"/>
          <a:stretch/>
        </p:blipFill>
        <p:spPr bwMode="auto">
          <a:xfrm>
            <a:off x="5767258" y="1336369"/>
            <a:ext cx="6283228" cy="4849375"/>
          </a:xfrm>
          <a:prstGeom prst="rect">
            <a:avLst/>
          </a:prstGeom>
          <a:noFill/>
          <a:ln w="38100">
            <a:solidFill>
              <a:srgbClr val="B9EFD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606B273C-39D0-4B12-BC86-7CB1FCA05D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9" t="12202" r="4277" b="9827"/>
          <a:stretch/>
        </p:blipFill>
        <p:spPr bwMode="auto">
          <a:xfrm>
            <a:off x="329772" y="3746706"/>
            <a:ext cx="5241687" cy="2608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0CE42D-C07B-48DC-95C6-1809D43C94A6}"/>
              </a:ext>
            </a:extLst>
          </p:cNvPr>
          <p:cNvSpPr txBox="1"/>
          <p:nvPr/>
        </p:nvSpPr>
        <p:spPr>
          <a:xfrm>
            <a:off x="6669389" y="1389285"/>
            <a:ext cx="4478965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201DCDEB-E3DB-4BDE-99F5-A61997F8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9069" y="6354762"/>
            <a:ext cx="4235874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@AI-Powered Personal Farming Assistant for Kerala Farmers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D2231F-DB1A-429C-8065-07DDE843C5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3324" y="1123364"/>
            <a:ext cx="6590225" cy="46651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glow rad="139700">
              <a:schemeClr val="accent3">
                <a:satMod val="175000"/>
                <a:alpha val="40000"/>
              </a:schemeClr>
            </a:glow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38200" y="-1015663"/>
            <a:ext cx="93853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-27493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Oval 17" descr="Your startup LOGO">
            <a:extLst>
              <a:ext uri="{FF2B5EF4-FFF2-40B4-BE49-F238E27FC236}">
                <a16:creationId xmlns:a16="http://schemas.microsoft.com/office/drawing/2014/main" id="{CFC0912F-C69A-449B-86A1-A6DEB4BE53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90887"/>
            <a:ext cx="145649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Team Bashers</a:t>
            </a:r>
            <a:endParaRPr lang="en-IN" dirty="0"/>
          </a:p>
        </p:txBody>
      </p:sp>
      <p:pic>
        <p:nvPicPr>
          <p:cNvPr id="2050" name="Picture 2" descr="Pandas Icon, Logo and PNG Files for Your Projects">
            <a:extLst>
              <a:ext uri="{FF2B5EF4-FFF2-40B4-BE49-F238E27FC236}">
                <a16:creationId xmlns:a16="http://schemas.microsoft.com/office/drawing/2014/main" id="{4B70006A-83FF-43BE-9ED6-E0193B4C3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1673" y="4262613"/>
            <a:ext cx="253239" cy="14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Matplotlib color icon in PNG, SVG">
            <a:extLst>
              <a:ext uri="{FF2B5EF4-FFF2-40B4-BE49-F238E27FC236}">
                <a16:creationId xmlns:a16="http://schemas.microsoft.com/office/drawing/2014/main" id="{18A351E8-5731-4488-A306-CD2BE996C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3659" y="4410316"/>
            <a:ext cx="253239" cy="19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-Stats | Streamlit Web App Development Services">
            <a:extLst>
              <a:ext uri="{FF2B5EF4-FFF2-40B4-BE49-F238E27FC236}">
                <a16:creationId xmlns:a16="http://schemas.microsoft.com/office/drawing/2014/main" id="{B8ECABEF-60F0-4B5F-8265-0D7341DED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7064" y="4271119"/>
            <a:ext cx="242786" cy="139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Fastapi Icon icon - Free Download PNG &amp; SVG | Streamline">
            <a:extLst>
              <a:ext uri="{FF2B5EF4-FFF2-40B4-BE49-F238E27FC236}">
                <a16:creationId xmlns:a16="http://schemas.microsoft.com/office/drawing/2014/main" id="{3CC0066F-206B-4364-93E1-F58950791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4510" y="4458156"/>
            <a:ext cx="193614" cy="131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CAD8F858-AF76-402D-A79B-4A8336946A6D}"/>
              </a:ext>
            </a:extLst>
          </p:cNvPr>
          <p:cNvSpPr/>
          <p:nvPr/>
        </p:nvSpPr>
        <p:spPr>
          <a:xfrm>
            <a:off x="6420224" y="5880459"/>
            <a:ext cx="4416424" cy="33978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u="sng" dirty="0">
                <a:solidFill>
                  <a:schemeClr val="tx2">
                    <a:lumMod val="60000"/>
                    <a:lumOff val="40000"/>
                  </a:schemeClr>
                </a:solidFill>
                <a:hlinkClick r:id="rId10"/>
              </a:rPr>
              <a:t>PROTOTYPE LINK</a:t>
            </a:r>
            <a:endParaRPr lang="en-US" sz="1600" i="1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9EBE93E-CE72-4229-99EF-2331B08AD209}"/>
              </a:ext>
            </a:extLst>
          </p:cNvPr>
          <p:cNvSpPr/>
          <p:nvPr/>
        </p:nvSpPr>
        <p:spPr>
          <a:xfrm>
            <a:off x="198719" y="1155884"/>
            <a:ext cx="5636024" cy="39601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b="1" u="sng" dirty="0">
                <a:solidFill>
                  <a:schemeClr val="accent1">
                    <a:lumMod val="7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Technology Stack</a:t>
            </a:r>
          </a:p>
          <a:p>
            <a:endParaRPr lang="en-US" sz="1600" u="sng" dirty="0">
              <a:solidFill>
                <a:schemeClr val="accent1">
                  <a:lumMod val="75000"/>
                </a:schemeClr>
              </a:solidFill>
              <a:latin typeface="+mj-lt"/>
              <a:ea typeface="Adobe Gothic Std B" panose="020B0800000000000000" pitchFamily="34" charset="-128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Frontend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 : React Js, React Native.</a:t>
            </a:r>
          </a:p>
          <a:p>
            <a:endParaRPr lang="en-US" sz="1600" dirty="0">
              <a:solidFill>
                <a:schemeClr val="tx1"/>
              </a:solidFill>
              <a:latin typeface="+mj-lt"/>
              <a:ea typeface="Adobe Gothic Std B" panose="020B0800000000000000" pitchFamily="34" charset="-128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Backend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 : Node Js, REST API, Flask or </a:t>
            </a:r>
            <a:r>
              <a:rPr lang="en-US" sz="1600" dirty="0" err="1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FastAPI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, PostgreSQL, </a:t>
            </a:r>
            <a:r>
              <a:rPr lang="en-US" sz="1600" dirty="0" err="1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BeautifulSoup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, Selenium, matplotlib.</a:t>
            </a:r>
          </a:p>
          <a:p>
            <a:endParaRPr lang="en-US" sz="1600" dirty="0">
              <a:solidFill>
                <a:schemeClr val="tx1"/>
              </a:solidFill>
              <a:latin typeface="+mj-lt"/>
              <a:ea typeface="Adobe Gothic Std B" panose="020B0800000000000000" pitchFamily="34" charset="-128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AI and ML 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: Scikit-Learn or TensorFlow, pandas.</a:t>
            </a:r>
          </a:p>
          <a:p>
            <a:endParaRPr lang="en-US" sz="1600" dirty="0">
              <a:solidFill>
                <a:schemeClr val="tx1"/>
              </a:solidFill>
              <a:latin typeface="+mj-lt"/>
              <a:ea typeface="Adobe Gothic Std B" panose="020B0800000000000000" pitchFamily="34" charset="-128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API Services 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: </a:t>
            </a:r>
            <a:r>
              <a:rPr lang="en-US" sz="1600" dirty="0" err="1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Bhashini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, ISRO </a:t>
            </a:r>
            <a:r>
              <a:rPr lang="en-US" sz="1600" dirty="0" err="1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BhuvanAPI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SoilGrids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, </a:t>
            </a:r>
            <a:r>
              <a:rPr lang="en-US" sz="1600" dirty="0" err="1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OpenweatherAPI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.</a:t>
            </a:r>
          </a:p>
          <a:p>
            <a:endParaRPr lang="en-US" sz="1600" b="1" dirty="0">
              <a:solidFill>
                <a:schemeClr val="tx1"/>
              </a:solidFill>
              <a:latin typeface="+mj-lt"/>
              <a:ea typeface="Adobe Gothic Std B" panose="020B0800000000000000" pitchFamily="34" charset="-128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Deployment 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: AWS, Docker, </a:t>
            </a:r>
            <a:r>
              <a:rPr lang="en-US" sz="1600" dirty="0" err="1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Github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, Kubernetes.</a:t>
            </a:r>
          </a:p>
          <a:p>
            <a:endParaRPr lang="en-US" sz="1600" b="1" dirty="0">
              <a:solidFill>
                <a:schemeClr val="tx1"/>
              </a:solidFill>
              <a:latin typeface="+mj-lt"/>
              <a:ea typeface="Adobe Gothic Std B" panose="020B0800000000000000" pitchFamily="34" charset="-128"/>
            </a:endParaRPr>
          </a:p>
          <a:p>
            <a:r>
              <a:rPr lang="en-US" sz="1600" b="1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Additional 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: Redis, Postman, </a:t>
            </a:r>
            <a:r>
              <a:rPr lang="en-US" sz="1600" dirty="0" err="1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Agmarknet</a:t>
            </a:r>
            <a:r>
              <a:rPr lang="en-US" sz="1600" dirty="0">
                <a:solidFill>
                  <a:schemeClr val="tx1"/>
                </a:solidFill>
                <a:latin typeface="+mj-lt"/>
                <a:ea typeface="Adobe Gothic Std B" panose="020B0800000000000000" pitchFamily="34" charset="-128"/>
              </a:rPr>
              <a:t>.</a:t>
            </a:r>
          </a:p>
          <a:p>
            <a:endParaRPr lang="en-US" sz="1400" dirty="0">
              <a:solidFill>
                <a:schemeClr val="accent1">
                  <a:lumMod val="75000"/>
                </a:schemeClr>
              </a:solidFill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pic>
        <p:nvPicPr>
          <p:cNvPr id="98" name="Picture 6" descr="M-Stats | Streamlit Web App Development Services">
            <a:extLst>
              <a:ext uri="{FF2B5EF4-FFF2-40B4-BE49-F238E27FC236}">
                <a16:creationId xmlns:a16="http://schemas.microsoft.com/office/drawing/2014/main" id="{6D973ACC-09AA-4544-8F26-221C8B8B8E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471" y="5360688"/>
            <a:ext cx="541451" cy="310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8" descr="Fastapi Icon icon - Free Download PNG &amp; SVG | Streamline">
            <a:extLst>
              <a:ext uri="{FF2B5EF4-FFF2-40B4-BE49-F238E27FC236}">
                <a16:creationId xmlns:a16="http://schemas.microsoft.com/office/drawing/2014/main" id="{88609236-F0A6-427E-A715-614863A9D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6275" y="5800193"/>
            <a:ext cx="473378" cy="41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10" descr="React Native color icon in PNG, SVG">
            <a:extLst>
              <a:ext uri="{FF2B5EF4-FFF2-40B4-BE49-F238E27FC236}">
                <a16:creationId xmlns:a16="http://schemas.microsoft.com/office/drawing/2014/main" id="{4C17E837-C39B-4A90-AFAA-04EFCC4AA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450" y="5329774"/>
            <a:ext cx="606721" cy="467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8" name="Picture 12" descr="Postgre - Free logo icons">
            <a:extLst>
              <a:ext uri="{FF2B5EF4-FFF2-40B4-BE49-F238E27FC236}">
                <a16:creationId xmlns:a16="http://schemas.microsoft.com/office/drawing/2014/main" id="{D427F6E3-CCC7-49AA-86C5-CBFDE9B98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181" y="5363976"/>
            <a:ext cx="536839" cy="424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Picture 16" descr="BHASHINI APK Download for Android - Latest Version">
            <a:extLst>
              <a:ext uri="{FF2B5EF4-FFF2-40B4-BE49-F238E27FC236}">
                <a16:creationId xmlns:a16="http://schemas.microsoft.com/office/drawing/2014/main" id="{0434636E-6ADA-49D1-9081-227B2D9F0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212" y="5176495"/>
            <a:ext cx="891408" cy="61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18" descr="Bhoonidhi FAQ">
            <a:extLst>
              <a:ext uri="{FF2B5EF4-FFF2-40B4-BE49-F238E27FC236}">
                <a16:creationId xmlns:a16="http://schemas.microsoft.com/office/drawing/2014/main" id="{A995C4DC-AC95-4146-8D50-59634517D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402" y="5827158"/>
            <a:ext cx="672816" cy="522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OpenWeather · GitHub">
            <a:extLst>
              <a:ext uri="{FF2B5EF4-FFF2-40B4-BE49-F238E27FC236}">
                <a16:creationId xmlns:a16="http://schemas.microsoft.com/office/drawing/2014/main" id="{EA768857-80B6-4354-BFB6-D289B311E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5740" y="5743001"/>
            <a:ext cx="525766" cy="52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stallation — soilgrids documentation">
            <a:extLst>
              <a:ext uri="{FF2B5EF4-FFF2-40B4-BE49-F238E27FC236}">
                <a16:creationId xmlns:a16="http://schemas.microsoft.com/office/drawing/2014/main" id="{E2AD8817-45E1-497F-B39C-EED06CD4C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269" y="5927945"/>
            <a:ext cx="981259" cy="20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Understanding XGBoost &amp; it's growing popularity among the ML community | by  Deep Borkar | Analytics Vidhya | Medium">
            <a:extLst>
              <a:ext uri="{FF2B5EF4-FFF2-40B4-BE49-F238E27FC236}">
                <a16:creationId xmlns:a16="http://schemas.microsoft.com/office/drawing/2014/main" id="{FC2EFC90-F79B-496B-A663-0B2BEDEEB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057" y="5199475"/>
            <a:ext cx="1142984" cy="634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Github Logo - Free social media icons">
            <a:extLst>
              <a:ext uri="{FF2B5EF4-FFF2-40B4-BE49-F238E27FC236}">
                <a16:creationId xmlns:a16="http://schemas.microsoft.com/office/drawing/2014/main" id="{2805CCFF-2AB3-445B-8677-C1E641C69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527" y="5303347"/>
            <a:ext cx="438107" cy="438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Amazon Web Services Logo, symbol, meaning, history, PNG, brand">
            <a:extLst>
              <a:ext uri="{FF2B5EF4-FFF2-40B4-BE49-F238E27FC236}">
                <a16:creationId xmlns:a16="http://schemas.microsoft.com/office/drawing/2014/main" id="{4033BD0F-035E-4267-8CEA-3DE73EF74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005" y="5883564"/>
            <a:ext cx="684805" cy="385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Docker, logo, logos icon - Free download on Iconfinder">
            <a:extLst>
              <a:ext uri="{FF2B5EF4-FFF2-40B4-BE49-F238E27FC236}">
                <a16:creationId xmlns:a16="http://schemas.microsoft.com/office/drawing/2014/main" id="{E3090D40-5EE5-4FFA-9899-6DB4952331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4564" y="5763786"/>
            <a:ext cx="556691" cy="55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ostman Icon SVG Vector &amp; PNG Free Download | UXWing">
            <a:extLst>
              <a:ext uri="{FF2B5EF4-FFF2-40B4-BE49-F238E27FC236}">
                <a16:creationId xmlns:a16="http://schemas.microsoft.com/office/drawing/2014/main" id="{3FEBF817-553A-47D4-8F7C-E5CA8B42F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906" y="5834466"/>
            <a:ext cx="428291" cy="42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20BCDA1D-35F4-4367-9E05-DDC9022639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5465" y="5257553"/>
            <a:ext cx="426317" cy="457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Footer Placeholder 6">
            <a:extLst>
              <a:ext uri="{FF2B5EF4-FFF2-40B4-BE49-F238E27FC236}">
                <a16:creationId xmlns:a16="http://schemas.microsoft.com/office/drawing/2014/main" id="{DC73549A-71DF-4F21-AF6B-1287B871C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9069" y="6354762"/>
            <a:ext cx="4235874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@AI-Powered Personal Farming Assistant for Kerala Farmers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901700" y="-1077963"/>
            <a:ext cx="93853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AA644F03-3A20-4D2D-B076-C81D12D9C3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23772"/>
            <a:ext cx="145649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Team Bashers</a:t>
            </a:r>
            <a:endParaRPr lang="en-IN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3D78DF3B-D07A-4562-A30F-938E23958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9069" y="6354762"/>
            <a:ext cx="4235874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@AI-Powered Personal Farming Assistant for Kerala Farmers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04E5D08-041E-4EBF-B840-5FC2F1C75E78}"/>
              </a:ext>
            </a:extLst>
          </p:cNvPr>
          <p:cNvSpPr txBox="1"/>
          <p:nvPr/>
        </p:nvSpPr>
        <p:spPr>
          <a:xfrm>
            <a:off x="180917" y="1112651"/>
            <a:ext cx="54543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+mj-lt"/>
              </a:rPr>
              <a:t>        FEASIBILITY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Technical : Uses AI/ML, cloud, mobile app, and existing weather/market APIs.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Architecture : Modular design for phased development.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Market : High demand from farmers for yield optimization and cost reduction.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Economic : Low initial cost, utilizing open-source frameworks.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EBF224F-5AF9-4DBE-9BC6-F853ACE6C5F6}"/>
              </a:ext>
            </a:extLst>
          </p:cNvPr>
          <p:cNvSpPr txBox="1"/>
          <p:nvPr/>
        </p:nvSpPr>
        <p:spPr>
          <a:xfrm>
            <a:off x="175863" y="2327975"/>
            <a:ext cx="57839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+mj-lt"/>
              </a:rPr>
              <a:t>        VIABILITY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Revenue : Multi-stream approach (Govt. partnerships, data analytics).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User Base : Targets millions of small and marginal Indian farmers (mass adoption).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Scalability : Easily expandable from local to state/national levels.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Sustainability : Promotes long-term soil health and farmer income growth.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40D3CF-4AA0-4AD1-BB40-1239B5F6D7AC}"/>
              </a:ext>
            </a:extLst>
          </p:cNvPr>
          <p:cNvSpPr txBox="1"/>
          <p:nvPr/>
        </p:nvSpPr>
        <p:spPr>
          <a:xfrm>
            <a:off x="180919" y="3555842"/>
            <a:ext cx="57839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+mj-lt"/>
              </a:rPr>
              <a:t>        CHALLENGES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/>
              <a:t>User Adoption : Farmers may struggle with complex UI and digital literacy.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/>
              <a:t>Infrastructure : Limited IoT infrastructure in Indian villages.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/>
              <a:t>Market Competition : Similar apps already exist.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/>
              <a:t>Financial/Sustainment : Continuous maintenance cost (API servers, training).</a:t>
            </a:r>
          </a:p>
          <a:p>
            <a:pPr marL="342900" indent="-342900" algn="just">
              <a:buFont typeface="+mj-lt"/>
              <a:buAutoNum type="arabicParenR"/>
            </a:pPr>
            <a:endParaRPr lang="en-US" sz="1200" dirty="0">
              <a:latin typeface="+mj-lt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185FE7-BEB2-479A-9A14-9BFD83AA31BA}"/>
              </a:ext>
            </a:extLst>
          </p:cNvPr>
          <p:cNvSpPr txBox="1"/>
          <p:nvPr/>
        </p:nvSpPr>
        <p:spPr>
          <a:xfrm>
            <a:off x="124082" y="4849564"/>
            <a:ext cx="59641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+mj-lt"/>
              </a:rPr>
              <a:t>        SOLUTIONS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/>
              <a:t>Provide voice assistant, large buttons, simple step-based flow, and a clean layout.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/>
              <a:t>Add new datasets/APIs over time, ensuring adaptability to crops &amp; climate trends.</a:t>
            </a:r>
            <a:endParaRPr lang="en-US" sz="1200" dirty="0">
              <a:latin typeface="+mj-lt"/>
            </a:endParaRP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/>
              <a:t>Use features like crop rotation, profit analysis, and voice guidance in local language.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/>
              <a:t>Partner with government schemes like </a:t>
            </a:r>
            <a:r>
              <a:rPr lang="en-US" sz="1200" dirty="0" err="1"/>
              <a:t>eNAM</a:t>
            </a:r>
            <a:r>
              <a:rPr lang="en-US" sz="1200" dirty="0"/>
              <a:t> and startups for funding and deployment.</a:t>
            </a:r>
            <a:endParaRPr lang="en-US" sz="1200" dirty="0">
              <a:latin typeface="+mj-l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68B853-AB7B-44DF-9624-05FC3445AEAB}"/>
              </a:ext>
            </a:extLst>
          </p:cNvPr>
          <p:cNvSpPr txBox="1"/>
          <p:nvPr/>
        </p:nvSpPr>
        <p:spPr>
          <a:xfrm>
            <a:off x="6088275" y="1112651"/>
            <a:ext cx="59150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+mj-lt"/>
              </a:rPr>
              <a:t>        USE CASES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New Farmers: Quick start for optimal crop selection.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Experienced Farmers: Optimize practices, implement rotations, and use market data.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Government: Data-driven policy making and resource allocation.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Agri-Businesses: Identify ideal regions for sourcing and contract farming.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Researchers: Access to anonymized, aggregated datasets.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D127955-F147-478B-9D38-7A94651AFCD0}"/>
              </a:ext>
            </a:extLst>
          </p:cNvPr>
          <p:cNvSpPr txBox="1"/>
          <p:nvPr/>
        </p:nvSpPr>
        <p:spPr>
          <a:xfrm>
            <a:off x="6088275" y="2482444"/>
            <a:ext cx="591508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200" b="1" dirty="0">
                <a:latin typeface="+mj-lt"/>
              </a:rPr>
              <a:t>        BUSINESS POTENTIAL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Partnerships: Align with national schemes (PM Kisan, e-NAM) for deployment.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Data Services: Sell insights to research, seed, and fertilizer companies (anonymized).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Premium Model: Offer subscriptions for advanced agronomy, alerts, and market links.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en-US" sz="1200" dirty="0">
                <a:latin typeface="+mj-lt"/>
              </a:rPr>
              <a:t>Local Services: Connect farmers to local experts, labs, and equipment rentals.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A44BEEE-62AB-4CCD-9843-2E3DA9E4F555}"/>
              </a:ext>
            </a:extLst>
          </p:cNvPr>
          <p:cNvSpPr txBox="1"/>
          <p:nvPr/>
        </p:nvSpPr>
        <p:spPr>
          <a:xfrm>
            <a:off x="6153843" y="3674774"/>
            <a:ext cx="5783946" cy="234957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 SUPPORTING FACTS FOR FEASIBILITY AND VIABILITY</a:t>
            </a:r>
          </a:p>
          <a:p>
            <a:endParaRPr lang="en-US" sz="1200" dirty="0"/>
          </a:p>
          <a:p>
            <a:pPr marL="171450" indent="-171450">
              <a:buFont typeface="Calibri" panose="020F0502020204030204" pitchFamily="34" charset="0"/>
              <a:buChar char="¤"/>
            </a:pPr>
            <a:r>
              <a:rPr lang="en-US" sz="1200" dirty="0"/>
              <a:t>In Palakkad (</a:t>
            </a:r>
            <a:r>
              <a:rPr lang="en-US" sz="1200" dirty="0" err="1"/>
              <a:t>Chittur</a:t>
            </a:r>
            <a:r>
              <a:rPr lang="en-US" sz="1200" dirty="0"/>
              <a:t> taluk), about 1,000 farmers have adopted precision agriculture. For some, switching from regular paddy to precision‐vegetable farming gave ~ ₹75,000 to ₹1,50,000 per acre/year.</a:t>
            </a:r>
          </a:p>
          <a:p>
            <a:pPr marL="171450" indent="-171450">
              <a:buFont typeface="Calibri" panose="020F0502020204030204" pitchFamily="34" charset="0"/>
              <a:buChar char="¤"/>
            </a:pPr>
            <a:r>
              <a:rPr lang="en-US" sz="1200" dirty="0"/>
              <a:t>Studies show mobile phones/apps are improving how rural women farmers in places like Palakkad access market price info, weather, pest control etc. → better decision making, less loss. </a:t>
            </a:r>
          </a:p>
          <a:p>
            <a:pPr marL="171450" indent="-171450">
              <a:buFont typeface="Calibri" panose="020F0502020204030204" pitchFamily="34" charset="0"/>
              <a:buChar char="¤"/>
            </a:pPr>
            <a:r>
              <a:rPr lang="en-US" sz="1200" dirty="0"/>
              <a:t>Such tech is helping reduce water usage by 50% and providing crop-health alerts via satellite &amp; remote sensing. </a:t>
            </a:r>
          </a:p>
          <a:p>
            <a:pPr marL="171450" indent="-171450">
              <a:buFont typeface="Calibri" panose="020F0502020204030204" pitchFamily="34" charset="0"/>
              <a:buChar char="¤"/>
            </a:pPr>
            <a:endParaRPr lang="en-US" sz="1200" dirty="0"/>
          </a:p>
        </p:txBody>
      </p:sp>
      <p:sp>
        <p:nvSpPr>
          <p:cNvPr id="16" name="Sun 15">
            <a:extLst>
              <a:ext uri="{FF2B5EF4-FFF2-40B4-BE49-F238E27FC236}">
                <a16:creationId xmlns:a16="http://schemas.microsoft.com/office/drawing/2014/main" id="{AAE041E7-BF31-42B0-A008-232EC32734E5}"/>
              </a:ext>
            </a:extLst>
          </p:cNvPr>
          <p:cNvSpPr/>
          <p:nvPr/>
        </p:nvSpPr>
        <p:spPr>
          <a:xfrm>
            <a:off x="7110460" y="3805247"/>
            <a:ext cx="246192" cy="246192"/>
          </a:xfrm>
          <a:prstGeom prst="sun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Sun 45">
            <a:extLst>
              <a:ext uri="{FF2B5EF4-FFF2-40B4-BE49-F238E27FC236}">
                <a16:creationId xmlns:a16="http://schemas.microsoft.com/office/drawing/2014/main" id="{9D4F9BE5-CFD0-4C1E-822A-2FF7960E9CF4}"/>
              </a:ext>
            </a:extLst>
          </p:cNvPr>
          <p:cNvSpPr/>
          <p:nvPr/>
        </p:nvSpPr>
        <p:spPr>
          <a:xfrm>
            <a:off x="10737767" y="3794614"/>
            <a:ext cx="246192" cy="246192"/>
          </a:xfrm>
          <a:prstGeom prst="sun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1" name="Picture 7" descr="Verified - Free security icons">
            <a:extLst>
              <a:ext uri="{FF2B5EF4-FFF2-40B4-BE49-F238E27FC236}">
                <a16:creationId xmlns:a16="http://schemas.microsoft.com/office/drawing/2014/main" id="{5F7F6B14-553A-4DE2-AB74-8F7E5A03A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5452" y="3498107"/>
            <a:ext cx="646514" cy="646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9" descr="Random - Free marketing icons">
            <a:extLst>
              <a:ext uri="{FF2B5EF4-FFF2-40B4-BE49-F238E27FC236}">
                <a16:creationId xmlns:a16="http://schemas.microsoft.com/office/drawing/2014/main" id="{0040F119-0D1B-4887-BDAC-076FD0CB1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006" y="1023963"/>
            <a:ext cx="329609" cy="329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5C0F671-8B5E-4936-808F-5C47857263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5107" y="2366952"/>
            <a:ext cx="362972" cy="3629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F5F85FB-2790-4141-B560-A42E233D5C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47" y="4689688"/>
            <a:ext cx="453026" cy="45302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93F3532-B8AD-4CD4-9ACE-1AA033989A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010" y="2257735"/>
            <a:ext cx="329609" cy="32960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6D1EFEC-41F1-4297-9C41-6EE9950945B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65411" y="1056320"/>
            <a:ext cx="320972" cy="32097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E532E3A-C1E7-4AC6-9035-550A7BF40A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5411" y="3465005"/>
            <a:ext cx="329609" cy="329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853001" y="-661986"/>
            <a:ext cx="93853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E0058F1F-9431-42F7-A05F-DAF3FA00E8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78498"/>
            <a:ext cx="145649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Team Bashers</a:t>
            </a:r>
            <a:endParaRPr lang="en-IN" dirty="0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369DAFCD-6732-4636-99A7-6B35DCFC36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9" t="6028" r="6351" b="5413"/>
          <a:stretch/>
        </p:blipFill>
        <p:spPr bwMode="auto">
          <a:xfrm>
            <a:off x="6836735" y="1390677"/>
            <a:ext cx="5213751" cy="4542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7BC582-68A0-4267-BE34-433445834054}"/>
              </a:ext>
            </a:extLst>
          </p:cNvPr>
          <p:cNvSpPr txBox="1"/>
          <p:nvPr/>
        </p:nvSpPr>
        <p:spPr>
          <a:xfrm>
            <a:off x="329773" y="1125739"/>
            <a:ext cx="650696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00B05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🌱 </a:t>
            </a:r>
            <a:r>
              <a:rPr lang="en-US" b="1" dirty="0">
                <a:solidFill>
                  <a:srgbClr val="00B050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Impacts  </a:t>
            </a:r>
          </a:p>
          <a:p>
            <a:pPr algn="just"/>
            <a:endParaRPr lang="en-US" sz="1600" b="1" dirty="0">
              <a:highlight>
                <a:srgbClr val="CEF0CF"/>
              </a:highlight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/>
              <a:t>Quick Adoption</a:t>
            </a:r>
            <a:r>
              <a:rPr lang="en-US" sz="1400" dirty="0"/>
              <a:t>: Farmers with no prior experience can start in a short time.</a:t>
            </a:r>
            <a:endParaRPr lang="en-US" sz="1400" b="1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/>
              <a:t>Policy Support</a:t>
            </a:r>
            <a:r>
              <a:rPr lang="en-US" sz="1400" dirty="0"/>
              <a:t>: Government agencies get access to official, reliable, data-driven insights.</a:t>
            </a:r>
            <a:endParaRPr lang="en-US" sz="1400" b="1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/>
              <a:t>Economic Growth</a:t>
            </a:r>
            <a:r>
              <a:rPr lang="en-US" sz="1400" dirty="0"/>
              <a:t>: Boosts planning, employment, food production, and state GDP.</a:t>
            </a:r>
            <a:endParaRPr lang="en-US" sz="1400" b="1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/>
              <a:t>Trust in Digital Tools</a:t>
            </a:r>
            <a:r>
              <a:rPr lang="en-US" sz="1400" dirty="0"/>
              <a:t>: Builds confidence among farmers for using tech-driven solutions.</a:t>
            </a:r>
            <a:endParaRPr lang="en-US" sz="1400" b="1" dirty="0">
              <a:latin typeface="+mj-lt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/>
              <a:t>Sustainable Development</a:t>
            </a:r>
            <a:r>
              <a:rPr lang="en-US" sz="1400" dirty="0"/>
              <a:t>: Reduces fertilizer use, promotes organic farming.</a:t>
            </a:r>
            <a:endParaRPr lang="en-US" sz="1600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C80153-8694-43DE-8058-1EC0E89161B8}"/>
              </a:ext>
            </a:extLst>
          </p:cNvPr>
          <p:cNvSpPr txBox="1"/>
          <p:nvPr/>
        </p:nvSpPr>
        <p:spPr>
          <a:xfrm>
            <a:off x="329773" y="3461126"/>
            <a:ext cx="65069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🌾 Benefits</a:t>
            </a:r>
          </a:p>
          <a:p>
            <a:pPr algn="just"/>
            <a:endParaRPr lang="en-US" sz="1600" b="1" dirty="0">
              <a:solidFill>
                <a:schemeClr val="accent1">
                  <a:lumMod val="75000"/>
                </a:schemeClr>
              </a:solidFill>
              <a:highlight>
                <a:srgbClr val="CEF0CF"/>
              </a:highlight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/>
              <a:t>Farmer Inclusion: </a:t>
            </a:r>
            <a:r>
              <a:rPr lang="en-US" sz="1400" dirty="0"/>
              <a:t>Especially supports small &amp; marginal farmers (majority of India’s </a:t>
            </a:r>
            <a:r>
              <a:rPr lang="en-US" sz="1400" dirty="0" err="1"/>
              <a:t>agri</a:t>
            </a:r>
            <a:r>
              <a:rPr lang="en-US" sz="1400" dirty="0"/>
              <a:t> sector).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/>
              <a:t>Government Alignment</a:t>
            </a:r>
            <a:r>
              <a:rPr lang="en-US" sz="1400" dirty="0"/>
              <a:t>: Can integrate with schemes like PM-Kisan, Digital Agriculture Mission, e-NAM.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/>
              <a:t>Digital India Push</a:t>
            </a:r>
            <a:r>
              <a:rPr lang="en-US" sz="1400" dirty="0"/>
              <a:t>: Directly supports Digital India &amp; </a:t>
            </a:r>
            <a:r>
              <a:rPr lang="en-US" sz="1400" dirty="0" err="1"/>
              <a:t>Atmanirbhar</a:t>
            </a:r>
            <a:r>
              <a:rPr lang="en-US" sz="1400" dirty="0"/>
              <a:t> Bharat goals.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/>
              <a:t>Financial Savings</a:t>
            </a:r>
            <a:r>
              <a:rPr lang="en-US" sz="1400" dirty="0"/>
              <a:t>: Farmers save money by matching exact needs &amp; planning better.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/>
              <a:t>Ease of Use</a:t>
            </a:r>
            <a:r>
              <a:rPr lang="en-US" sz="1400" dirty="0"/>
              <a:t>: Simple UI &amp; Malayalam language options → hassle-free adoption.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/>
              <a:t>Better Yields</a:t>
            </a:r>
            <a:r>
              <a:rPr lang="en-US" sz="1400" dirty="0"/>
              <a:t>: Increased yield, higher profits, reduced crop failures.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400" b="1" dirty="0"/>
              <a:t>Food Security</a:t>
            </a:r>
            <a:r>
              <a:rPr lang="en-US" sz="1400" dirty="0"/>
              <a:t>: Conserves water and strengthens food security.</a:t>
            </a:r>
            <a:endParaRPr lang="en-US" sz="1400" b="1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25122F1F-A928-486E-ABDC-F3C92A5DC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9069" y="6354762"/>
            <a:ext cx="4235874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@AI-Powered Personal Farming Assistant for Kerala Farmers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94929" y="1338081"/>
            <a:ext cx="7150376" cy="32932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1600" b="1" dirty="0">
                <a:solidFill>
                  <a:prstClr val="black"/>
                </a:solidFill>
                <a:latin typeface="+mj-lt"/>
                <a:cs typeface="Arial" pitchFamily="34" charset="0"/>
              </a:rPr>
              <a:t>RESEARCH FACTS</a:t>
            </a:r>
            <a:endParaRPr lang="en-US" sz="1600" b="1" dirty="0">
              <a:solidFill>
                <a:prstClr val="black"/>
              </a:solidFill>
              <a:latin typeface="+mj-lt"/>
              <a:cs typeface="Arial" pitchFamily="34" charset="0"/>
              <a:hlinkClick r:id="rId3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+mj-lt"/>
                <a:cs typeface="Arial" pitchFamily="34" charset="0"/>
                <a:hlinkClick r:id="rId3"/>
              </a:rPr>
              <a:t>6</a:t>
            </a:r>
            <a:r>
              <a:rPr lang="en-US" sz="1600" baseline="30000" dirty="0">
                <a:solidFill>
                  <a:prstClr val="black"/>
                </a:solidFill>
                <a:latin typeface="+mj-lt"/>
                <a:cs typeface="Arial" pitchFamily="34" charset="0"/>
                <a:hlinkClick r:id="rId3"/>
              </a:rPr>
              <a:t>th</a:t>
            </a:r>
            <a:r>
              <a:rPr lang="en-US" sz="1600" dirty="0">
                <a:solidFill>
                  <a:prstClr val="black"/>
                </a:solidFill>
                <a:latin typeface="+mj-lt"/>
                <a:cs typeface="Arial" pitchFamily="34" charset="0"/>
                <a:hlinkClick r:id="rId3"/>
              </a:rPr>
              <a:t> Edition of Handbook Of Agriculture : Facts And Figures by ICAR</a:t>
            </a:r>
            <a:r>
              <a:rPr lang="en-US" sz="1600" dirty="0">
                <a:hlinkClick r:id="rId4"/>
              </a:rPr>
              <a:t> 🔗</a:t>
            </a:r>
            <a:endParaRPr lang="en-US" sz="1600" dirty="0">
              <a:solidFill>
                <a:prstClr val="black"/>
              </a:solidFill>
              <a:latin typeface="+mj-lt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b="0" i="0" dirty="0">
                <a:solidFill>
                  <a:srgbClr val="111111"/>
                </a:solidFill>
                <a:effectLst/>
                <a:latin typeface="+mj-lt"/>
                <a:cs typeface="Arial" panose="020B0604020202020204" pitchFamily="34" charset="0"/>
                <a:hlinkClick r:id="rId5"/>
              </a:rPr>
              <a:t>Smart Farming: Challenges and Future Ideas</a:t>
            </a:r>
            <a:r>
              <a:rPr lang="en-US" sz="1600" dirty="0">
                <a:hlinkClick r:id="rId4"/>
              </a:rPr>
              <a:t> 🔗</a:t>
            </a:r>
            <a:endParaRPr lang="en-US" sz="1600" b="0" i="0" dirty="0">
              <a:solidFill>
                <a:srgbClr val="11111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b="0" i="0" u="sng" dirty="0">
                <a:solidFill>
                  <a:srgbClr val="111111"/>
                </a:solidFill>
                <a:effectLst/>
                <a:latin typeface="+mj-lt"/>
                <a:cs typeface="Arial" panose="020B0604020202020204" pitchFamily="34" charset="0"/>
                <a:hlinkClick r:id="rId6"/>
              </a:rPr>
              <a:t>XGBoost and Random Forest Algorithms: An in Depth Analysis</a:t>
            </a:r>
            <a:r>
              <a:rPr lang="en-US" sz="1600" dirty="0">
                <a:hlinkClick r:id="rId4"/>
              </a:rPr>
              <a:t> 🔗</a:t>
            </a:r>
            <a:endParaRPr lang="en-US" sz="1600" b="0" i="0" u="sng" dirty="0">
              <a:solidFill>
                <a:srgbClr val="11111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b="0" i="0" dirty="0">
                <a:effectLst/>
                <a:latin typeface="Andes"/>
                <a:hlinkClick r:id="rId7"/>
              </a:rPr>
              <a:t>India: Issues and Priorities for Agriculture</a:t>
            </a:r>
            <a:r>
              <a:rPr lang="en-US" sz="1600" dirty="0">
                <a:hlinkClick r:id="rId4"/>
              </a:rPr>
              <a:t> 🔗</a:t>
            </a:r>
            <a:endParaRPr lang="en-US" sz="1600" b="0" i="0" dirty="0">
              <a:effectLst/>
              <a:latin typeface="Andes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latin typeface="+mj-lt"/>
                <a:cs typeface="Arial" panose="020B0604020202020204" pitchFamily="34" charset="0"/>
                <a:hlinkClick r:id="rId8"/>
              </a:rPr>
              <a:t>Indian Council of Agricultural Research</a:t>
            </a:r>
            <a:r>
              <a:rPr lang="en-US" sz="1600" dirty="0">
                <a:hlinkClick r:id="rId4"/>
              </a:rPr>
              <a:t> 🔗</a:t>
            </a:r>
            <a:endParaRPr lang="en-US" sz="1600" dirty="0">
              <a:latin typeface="+mj-lt"/>
              <a:cs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i="0" dirty="0">
                <a:solidFill>
                  <a:srgbClr val="222222"/>
                </a:solidFill>
                <a:effectLst/>
                <a:latin typeface="-apple-system"/>
                <a:hlinkClick r:id="rId9"/>
              </a:rPr>
              <a:t>Crop recommendation system with supervised machine learning</a:t>
            </a:r>
            <a:r>
              <a:rPr lang="en-US" sz="1600" dirty="0">
                <a:hlinkClick r:id="rId4"/>
              </a:rPr>
              <a:t> 🔗</a:t>
            </a:r>
            <a:endParaRPr lang="en-US" sz="1600" i="0" dirty="0">
              <a:solidFill>
                <a:srgbClr val="222222"/>
              </a:solidFill>
              <a:effectLst/>
              <a:latin typeface="-apple-system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+mj-lt"/>
                <a:cs typeface="Arial" pitchFamily="34" charset="0"/>
                <a:hlinkClick r:id="rId10"/>
              </a:rPr>
              <a:t>Soil-Specific Crop Recommendation with AI: The XGB-</a:t>
            </a:r>
            <a:r>
              <a:rPr lang="en-US" sz="1600" dirty="0" err="1">
                <a:solidFill>
                  <a:prstClr val="black"/>
                </a:solidFill>
                <a:latin typeface="+mj-lt"/>
                <a:cs typeface="Arial" pitchFamily="34" charset="0"/>
                <a:hlinkClick r:id="rId10"/>
              </a:rPr>
              <a:t>FuzzyIncNet</a:t>
            </a:r>
            <a:r>
              <a:rPr lang="en-US" sz="1600" dirty="0">
                <a:solidFill>
                  <a:prstClr val="black"/>
                </a:solidFill>
                <a:latin typeface="+mj-lt"/>
                <a:cs typeface="Arial" pitchFamily="34" charset="0"/>
                <a:hlinkClick r:id="rId10"/>
              </a:rPr>
              <a:t> Approach</a:t>
            </a:r>
            <a:r>
              <a:rPr lang="en-US" sz="1600" dirty="0">
                <a:hlinkClick r:id="rId4"/>
              </a:rPr>
              <a:t> 🔗</a:t>
            </a:r>
            <a:endParaRPr lang="en-US" sz="1600" dirty="0"/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1600" dirty="0"/>
          </a:p>
          <a:p>
            <a:pPr algn="just">
              <a:defRPr/>
            </a:pPr>
            <a:r>
              <a:rPr lang="en-US" sz="1600" b="1" dirty="0">
                <a:solidFill>
                  <a:prstClr val="black"/>
                </a:solidFill>
                <a:latin typeface="+mj-lt"/>
                <a:cs typeface="Arial" pitchFamily="34" charset="0"/>
              </a:rPr>
              <a:t>FEASIBILITY FACTS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hlinkClick r:id="rId11"/>
              </a:rPr>
              <a:t>Empowering Rural Women Farmers Through Mobile Technology in Kerala 🔗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hlinkClick r:id="rId12"/>
              </a:rPr>
              <a:t>The Rise of </a:t>
            </a:r>
            <a:r>
              <a:rPr lang="en-US" sz="1600" dirty="0" err="1">
                <a:hlinkClick r:id="rId12"/>
              </a:rPr>
              <a:t>Agritech</a:t>
            </a:r>
            <a:r>
              <a:rPr lang="en-US" sz="1600" dirty="0">
                <a:hlinkClick r:id="rId12"/>
              </a:rPr>
              <a:t> in Kerala 🔗</a:t>
            </a:r>
            <a:endParaRPr lang="en-US" sz="1600" dirty="0"/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hlinkClick r:id="rId13"/>
              </a:rPr>
              <a:t>High profit lures farmers to high-tech precision agriculture 🔗</a:t>
            </a: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196B3113-AD42-4FAE-95EB-A009B93A62B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5649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Team Bashers</a:t>
            </a:r>
            <a:endParaRPr lang="en-IN" dirty="0"/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32C7C7AF-D0E7-4D58-8F83-E263E5DD5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6" t="10347" r="4474" b="9949"/>
          <a:stretch/>
        </p:blipFill>
        <p:spPr bwMode="auto">
          <a:xfrm>
            <a:off x="7102801" y="3612640"/>
            <a:ext cx="4947685" cy="2427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Footer Placeholder 6">
            <a:extLst>
              <a:ext uri="{FF2B5EF4-FFF2-40B4-BE49-F238E27FC236}">
                <a16:creationId xmlns:a16="http://schemas.microsoft.com/office/drawing/2014/main" id="{6360EC74-66CC-420C-AD4B-4275FF2B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59069" y="6354762"/>
            <a:ext cx="4235874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@AI-Powered Personal Farming Assistant for Kerala Farmers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8783</TotalTime>
  <Words>1122</Words>
  <Application>Microsoft Office PowerPoint</Application>
  <PresentationFormat>Widescreen</PresentationFormat>
  <Paragraphs>136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Adobe Gothic Std B</vt:lpstr>
      <vt:lpstr>Andes</vt:lpstr>
      <vt:lpstr>-apple-system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Japesh Pal</cp:lastModifiedBy>
  <cp:revision>751</cp:revision>
  <dcterms:created xsi:type="dcterms:W3CDTF">2013-12-12T18:46:50Z</dcterms:created>
  <dcterms:modified xsi:type="dcterms:W3CDTF">2025-09-29T18:15:15Z</dcterms:modified>
</cp:coreProperties>
</file>